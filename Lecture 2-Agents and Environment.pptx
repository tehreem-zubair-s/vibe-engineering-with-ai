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44"/>
  </p:notesMasterIdLst>
  <p:sldIdLst>
    <p:sldId id="374" r:id="rId2"/>
    <p:sldId id="375" r:id="rId3"/>
    <p:sldId id="1252" r:id="rId4"/>
    <p:sldId id="1280" r:id="rId5"/>
    <p:sldId id="1281" r:id="rId6"/>
    <p:sldId id="1253" r:id="rId7"/>
    <p:sldId id="1255" r:id="rId8"/>
    <p:sldId id="1282" r:id="rId9"/>
    <p:sldId id="1297" r:id="rId10"/>
    <p:sldId id="1266" r:id="rId11"/>
    <p:sldId id="1267" r:id="rId12"/>
    <p:sldId id="1268" r:id="rId13"/>
    <p:sldId id="1269" r:id="rId14"/>
    <p:sldId id="1283" r:id="rId15"/>
    <p:sldId id="1284" r:id="rId16"/>
    <p:sldId id="1254" r:id="rId17"/>
    <p:sldId id="1270" r:id="rId18"/>
    <p:sldId id="1286" r:id="rId19"/>
    <p:sldId id="1287" r:id="rId20"/>
    <p:sldId id="1288" r:id="rId21"/>
    <p:sldId id="1289" r:id="rId22"/>
    <p:sldId id="1290" r:id="rId23"/>
    <p:sldId id="1291" r:id="rId24"/>
    <p:sldId id="256" r:id="rId25"/>
    <p:sldId id="1292" r:id="rId26"/>
    <p:sldId id="1258" r:id="rId27"/>
    <p:sldId id="1293" r:id="rId28"/>
    <p:sldId id="1294" r:id="rId29"/>
    <p:sldId id="1295" r:id="rId30"/>
    <p:sldId id="1296" r:id="rId31"/>
    <p:sldId id="1261" r:id="rId32"/>
    <p:sldId id="1262" r:id="rId33"/>
    <p:sldId id="1272" r:id="rId34"/>
    <p:sldId id="1273" r:id="rId35"/>
    <p:sldId id="1274" r:id="rId36"/>
    <p:sldId id="1275" r:id="rId37"/>
    <p:sldId id="1276" r:id="rId38"/>
    <p:sldId id="1277" r:id="rId39"/>
    <p:sldId id="1278" r:id="rId40"/>
    <p:sldId id="1279" r:id="rId41"/>
    <p:sldId id="1298" r:id="rId42"/>
    <p:sldId id="129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>
    <p:restoredLeft sz="3942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2.32558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1-01-24T06:41:36.37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15998 7655 0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CDBF8-9A2A-4275-A8A8-A77B2021992C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59AA0-CEBE-415B-9D1F-4AB2B000E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67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59AA0-CEBE-415B-9D1F-4AB2B000EC9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02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AA8C-CBD8-4B67-B6A4-382400961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10820400" cy="23876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E4FBF-8D73-4A71-B1A9-518ACCACF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602038"/>
            <a:ext cx="10820400" cy="238760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F930E-7818-46A7-A9B3-DCF6F9C9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F0CA9-DFE1-4481-9B78-DE6D36A9F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494B8-6FE5-4FD5-A2F9-7D65EFD8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2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8032-E04D-4931-AF78-6A783F029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D7394-D9E3-4270-BD92-A9BB34C38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5000"/>
              </a:lnSpc>
              <a:defRPr sz="3200"/>
            </a:lvl1pPr>
            <a:lvl2pPr>
              <a:lnSpc>
                <a:spcPct val="125000"/>
              </a:lnSpc>
              <a:defRPr sz="3200"/>
            </a:lvl2pPr>
            <a:lvl3pPr>
              <a:lnSpc>
                <a:spcPct val="125000"/>
              </a:lnSpc>
              <a:defRPr sz="2800"/>
            </a:lvl3pPr>
            <a:lvl4pPr>
              <a:lnSpc>
                <a:spcPct val="125000"/>
              </a:lnSpc>
              <a:defRPr sz="2000"/>
            </a:lvl4pPr>
            <a:lvl5pPr>
              <a:lnSpc>
                <a:spcPct val="125000"/>
              </a:lnSpc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1E042-AB46-4140-A8F2-19EB0F08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2068F-CFED-4C76-BFDE-BADA9297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349FE-62B5-4BC3-93FC-B229544A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4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iz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8032-E04D-4931-AF78-6A783F029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D7394-D9E3-4270-BD92-A9BB34C38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340" y="850604"/>
            <a:ext cx="2584314" cy="5505745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3200"/>
            </a:lvl1pPr>
            <a:lvl2pPr>
              <a:lnSpc>
                <a:spcPct val="125000"/>
              </a:lnSpc>
              <a:defRPr sz="3200"/>
            </a:lvl2pPr>
            <a:lvl3pPr>
              <a:lnSpc>
                <a:spcPct val="125000"/>
              </a:lnSpc>
              <a:defRPr sz="2800"/>
            </a:lvl3pPr>
            <a:lvl4pPr>
              <a:lnSpc>
                <a:spcPct val="125000"/>
              </a:lnSpc>
              <a:defRPr sz="2000"/>
            </a:lvl4pPr>
            <a:lvl5pPr>
              <a:lnSpc>
                <a:spcPct val="125000"/>
              </a:lnSpc>
              <a:defRPr sz="20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1E042-AB46-4140-A8F2-19EB0F08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2068F-CFED-4C76-BFDE-BADA9297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349FE-62B5-4BC3-93FC-B229544A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07AB1C-0ADE-42C3-B9C6-47AC556BE6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015577" y="850604"/>
            <a:ext cx="8998083" cy="5505745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3200"/>
            </a:lvl1pPr>
            <a:lvl2pPr>
              <a:lnSpc>
                <a:spcPct val="125000"/>
              </a:lnSpc>
              <a:defRPr sz="3200"/>
            </a:lvl2pPr>
            <a:lvl3pPr>
              <a:lnSpc>
                <a:spcPct val="125000"/>
              </a:lnSpc>
              <a:defRPr sz="2800"/>
            </a:lvl3pPr>
            <a:lvl4pPr>
              <a:lnSpc>
                <a:spcPct val="125000"/>
              </a:lnSpc>
              <a:defRPr sz="2000"/>
            </a:lvl4pPr>
            <a:lvl5pPr>
              <a:lnSpc>
                <a:spcPct val="125000"/>
              </a:lnSpc>
              <a:defRPr sz="20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D1BA13-A551-4760-BBC3-9621BC544957}"/>
              </a:ext>
            </a:extLst>
          </p:cNvPr>
          <p:cNvCxnSpPr/>
          <p:nvPr/>
        </p:nvCxnSpPr>
        <p:spPr>
          <a:xfrm>
            <a:off x="2889115" y="638069"/>
            <a:ext cx="0" cy="57182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1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8FF8-9A6D-4B34-A956-2DB3C071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FDA47-5C16-49E7-8F99-18F5F12B5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38C6E-F926-40F2-A9FD-896B3596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4C9CC-0B0F-46FF-9103-86768480F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47643-E9AB-402E-B8F1-C7797A3C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13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Poin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38C6E-F926-40F2-A9FD-896B3596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4C9CC-0B0F-46FF-9103-86768480F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47643-E9AB-402E-B8F1-C7797A3C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8F8C9299-A551-4E4C-BB80-83D0A221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78474F9-A195-42B7-BEFF-469172C090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3339" y="881063"/>
            <a:ext cx="11291583" cy="521811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6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197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A30D2-7243-48B0-A643-F3D2BB82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9E986-09D4-4ACF-A7E2-E488085C2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669" y="746622"/>
            <a:ext cx="5919132" cy="54303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FF103-6BB1-4E7D-853A-C223A990A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746622"/>
            <a:ext cx="5919131" cy="54303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27388-5AEE-4D9C-AE99-9CC72845D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70882-2560-47BA-A8F2-56782936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C32CF-D4E5-4AF6-8831-DC61F256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73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C04C-5912-4841-8B6B-EA2A85F2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570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F09B8-8E00-481F-9051-E0107395F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47" y="859303"/>
            <a:ext cx="5880131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694C6-A2C8-4DEE-A63F-6CC76EDF2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447" y="1778466"/>
            <a:ext cx="5880131" cy="441119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94026-AA8B-47C8-AA9D-C13BEDE2A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859303"/>
            <a:ext cx="5880129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58DEC-5F3D-4A76-B8CC-3CE1EFE38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1778466"/>
            <a:ext cx="5880128" cy="441119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56D06-5684-44C6-B147-6F305BE7A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4F0D61-17C3-454C-B955-A378756DB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569310-E67F-4351-A997-2815B6431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09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6FC0-3E39-4FFF-B037-950603E9B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82AD4B-9109-4A1A-A2A3-AED38FED1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E2B32-8493-4C3B-A0DD-DF176CF8A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98220-0962-4C1E-AE64-52DD93A6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8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A7B4C8-3840-4955-AAB2-02B866952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A10A5-2C0D-489E-A38E-F4E643B3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82169-A54A-47CA-88ED-07CFCBC9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5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EE930-656A-4229-A753-83797FFD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3932237" cy="87245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EDDE7-DAE4-4B1F-8445-4071F0BC5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43281"/>
            <a:ext cx="6821459" cy="6098796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D8179-AD01-434F-BBB9-CDE871F98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8394" y="1008893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A0027-6E34-42FC-A6FC-F3D03A48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171D2-769B-4783-9E82-A16D6428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59AC3-1EAF-4084-BAB8-96490878A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7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20A0-DF46-404D-BC73-04632FCA3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5840452"/>
            <a:ext cx="12191999" cy="623703"/>
          </a:xfrm>
        </p:spPr>
        <p:txBody>
          <a:bodyPr/>
          <a:lstStyle>
            <a:lvl1pPr algn="ctr">
              <a:defRPr sz="1800">
                <a:solidFill>
                  <a:sysClr val="windowText" lastClr="000000"/>
                </a:solidFill>
                <a:effectLst/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65F1C-AEDC-41F8-8B8C-ACF0BE82D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B607F-AE7D-4746-8756-76CD46A2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62DC0-B9CF-4184-8BD6-400C3A7C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59D4516-24B4-44EE-86FA-0ED8AD72257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5840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44210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C1B0-02BF-45CE-9C54-EC36E2D0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1B2D6-B76D-4AE5-BEB5-05E082A34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74B1C-7120-410F-B905-B552257BE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66D2C-B7FF-42A9-902A-F642AECE6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1568D-D80A-4E17-AB19-8DD456BB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B9842-B5A6-47B5-81CB-6161988F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79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1124-E2CB-486B-A6B6-C13A3830D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FD793-221A-4779-B21D-C5D6E639B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A7B72-0E0A-429E-BA82-2A4DBC75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38CDF-9831-42FC-A762-814C47E5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BFD59-975C-4740-AF98-953A0FDC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87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A44DC-2741-417B-A807-F54C275CCC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9E0B7-77D5-4D64-B350-EBBB17980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DE5C9-5439-46BC-A158-499AB7CE0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A61A-0396-4C86-93E7-FE2D12175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AC066-3678-4FFF-B8BB-9E13E43C6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87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9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61A25E-244D-4E43-A8FB-C85756364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4"/>
            <a:ext cx="12191999" cy="6237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1C8FD-477F-452A-8FEB-6D657D1FF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141" y="850604"/>
            <a:ext cx="11504427" cy="5505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6903-7641-4F49-848C-663A2753D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87451"/>
            <a:ext cx="1371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D9381-35D8-4AC4-ADB0-1D1412B1D62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C4D91-6E1F-46DA-937D-50FF510EF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2" y="6478517"/>
            <a:ext cx="9448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655C-A24A-4BBA-9C13-2FC71B1CF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1" y="6492879"/>
            <a:ext cx="1371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739B4-2B6A-4D4E-A10C-18758C1D6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88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</p:sldLayoutIdLst>
  <p:txStyles>
    <p:titleStyle>
      <a:lvl1pPr algn="r" defTabSz="51435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2D050"/>
          </a:solidFill>
          <a:effectLst>
            <a:outerShdw blurRad="38100" dist="63500" dir="2700000" algn="tl" rotWithShape="0">
              <a:schemeClr val="tx1"/>
            </a:outerShdw>
          </a:effectLst>
          <a:latin typeface="Showcard Gothic" panose="04020904020102020604" pitchFamily="82" charset="0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125000"/>
        </a:lnSpc>
        <a:spcBef>
          <a:spcPts val="563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Comic Sans MS" panose="030F0702030302020204" pitchFamily="66" charset="0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125000"/>
        </a:lnSpc>
        <a:spcBef>
          <a:spcPts val="281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Comic Sans MS" panose="030F0702030302020204" pitchFamily="66" charset="0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125000"/>
        </a:lnSpc>
        <a:spcBef>
          <a:spcPts val="281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omic Sans MS" panose="030F0702030302020204" pitchFamily="66" charset="0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125000"/>
        </a:lnSpc>
        <a:spcBef>
          <a:spcPts val="28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mic Sans MS" panose="030F0702030302020204" pitchFamily="66" charset="0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125000"/>
        </a:lnSpc>
        <a:spcBef>
          <a:spcPts val="28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mic Sans MS" panose="030F0702030302020204" pitchFamily="66" charset="0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1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3F13-B01A-4888-8965-B05DBF97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75" y="288905"/>
            <a:ext cx="10515600" cy="2852737"/>
          </a:xfrm>
        </p:spPr>
        <p:txBody>
          <a:bodyPr/>
          <a:lstStyle/>
          <a:p>
            <a:r>
              <a:rPr lang="en-US" dirty="0"/>
              <a:t>What are Intelligent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F04E4-496C-4368-8741-A4D9213CB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7876" y="3429000"/>
            <a:ext cx="4176247" cy="950519"/>
          </a:xfrm>
        </p:spPr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Akram</a:t>
            </a:r>
            <a:r>
              <a:rPr lang="en-US" dirty="0"/>
              <a:t> Hussain</a:t>
            </a:r>
          </a:p>
        </p:txBody>
      </p:sp>
    </p:spTree>
    <p:extLst>
      <p:ext uri="{BB962C8B-B14F-4D97-AF65-F5344CB8AC3E}">
        <p14:creationId xmlns:p14="http://schemas.microsoft.com/office/powerpoint/2010/main" val="123312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48C8-E90E-478F-8C84-1118D9C2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D3572-A90B-46F9-B997-C57344944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4000" b="1" dirty="0">
                <a:ln>
                  <a:solidFill>
                    <a:sysClr val="windowText" lastClr="000000"/>
                  </a:solidFill>
                </a:ln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anything that can be viewed as </a:t>
            </a:r>
            <a:r>
              <a:rPr 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perceiving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sz="4000" b="1" dirty="0">
                <a:ln>
                  <a:solidFill>
                    <a:sysClr val="windowText" lastClr="000000"/>
                  </a:solidFill>
                </a:ln>
                <a:solidFill>
                  <a:srgbClr val="66F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sz="4000" b="1" dirty="0">
                <a:ln>
                  <a:solidFill>
                    <a:sysClr val="windowText" lastClr="000000"/>
                  </a:solidFill>
                </a:ln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upon that environment through </a:t>
            </a:r>
            <a:r>
              <a:rPr lang="en-US" sz="4000" b="1" dirty="0">
                <a:ln>
                  <a:solidFill>
                    <a:sysClr val="windowText" lastClr="000000"/>
                  </a:solidFill>
                </a:ln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actuators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5334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BE2250-CD0C-42D5-B371-2B54E0DF00DA}"/>
              </a:ext>
            </a:extLst>
          </p:cNvPr>
          <p:cNvSpPr/>
          <p:nvPr/>
        </p:nvSpPr>
        <p:spPr>
          <a:xfrm>
            <a:off x="1178943" y="767750"/>
            <a:ext cx="3847381" cy="4968815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491E2-B542-490E-BA58-A627AF1AF93B}"/>
              </a:ext>
            </a:extLst>
          </p:cNvPr>
          <p:cNvSpPr/>
          <p:nvPr/>
        </p:nvSpPr>
        <p:spPr>
          <a:xfrm>
            <a:off x="7435970" y="767751"/>
            <a:ext cx="3847381" cy="4968815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3200" b="1" dirty="0"/>
              <a:t>Environment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D02C29-EC23-4136-877D-32F296CB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8" name="Graphic 7" descr="Deciduous tree">
            <a:extLst>
              <a:ext uri="{FF2B5EF4-FFF2-40B4-BE49-F238E27FC236}">
                <a16:creationId xmlns:a16="http://schemas.microsoft.com/office/drawing/2014/main" id="{18346884-447A-4F18-980A-69017A834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6766" y="1375914"/>
            <a:ext cx="4045788" cy="4045788"/>
          </a:xfrm>
          <a:prstGeom prst="rect">
            <a:avLst/>
          </a:prstGeom>
        </p:spPr>
      </p:pic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C9EDEEF5-57D6-46EC-A43E-7C5BAF123A40}"/>
              </a:ext>
            </a:extLst>
          </p:cNvPr>
          <p:cNvSpPr/>
          <p:nvPr/>
        </p:nvSpPr>
        <p:spPr>
          <a:xfrm flipH="1">
            <a:off x="5119055" y="996309"/>
            <a:ext cx="2267310" cy="1752886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Percepts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C8B97A17-BBFB-4732-9FE3-922774ACA990}"/>
              </a:ext>
            </a:extLst>
          </p:cNvPr>
          <p:cNvSpPr/>
          <p:nvPr/>
        </p:nvSpPr>
        <p:spPr>
          <a:xfrm>
            <a:off x="5119056" y="3864854"/>
            <a:ext cx="2267310" cy="1752886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3BADDD-C8FC-48B4-91AE-67D680B574A9}"/>
              </a:ext>
            </a:extLst>
          </p:cNvPr>
          <p:cNvGrpSpPr/>
          <p:nvPr/>
        </p:nvGrpSpPr>
        <p:grpSpPr>
          <a:xfrm>
            <a:off x="1222076" y="1371600"/>
            <a:ext cx="3761116" cy="3761116"/>
            <a:chOff x="1222076" y="1371600"/>
            <a:chExt cx="3761116" cy="3761116"/>
          </a:xfrm>
        </p:grpSpPr>
        <p:pic>
          <p:nvPicPr>
            <p:cNvPr id="5" name="Graphic 4" descr="Robot">
              <a:extLst>
                <a:ext uri="{FF2B5EF4-FFF2-40B4-BE49-F238E27FC236}">
                  <a16:creationId xmlns:a16="http://schemas.microsoft.com/office/drawing/2014/main" id="{C845A842-9CC4-49EF-A7D9-181E9F8AC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2076" y="1371600"/>
              <a:ext cx="3761116" cy="376111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084263A-BF6D-4C69-B534-C513C5F95B19}"/>
                </a:ext>
              </a:extLst>
            </p:cNvPr>
            <p:cNvSpPr txBox="1"/>
            <p:nvPr/>
          </p:nvSpPr>
          <p:spPr>
            <a:xfrm>
              <a:off x="2527443" y="3020602"/>
              <a:ext cx="1160979" cy="1015663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6600" b="1" dirty="0">
                  <a:ln w="28575">
                    <a:solidFill>
                      <a:sysClr val="windowText" lastClr="000000"/>
                    </a:solidFill>
                  </a:ln>
                  <a:solidFill>
                    <a:srgbClr val="A89C8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endParaRPr lang="en-US" sz="1600" b="1" dirty="0">
                <a:ln w="28575">
                  <a:solidFill>
                    <a:sysClr val="windowText" lastClr="000000"/>
                  </a:solidFill>
                </a:ln>
                <a:solidFill>
                  <a:srgbClr val="A89C8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Block Arc 14">
            <a:extLst>
              <a:ext uri="{FF2B5EF4-FFF2-40B4-BE49-F238E27FC236}">
                <a16:creationId xmlns:a16="http://schemas.microsoft.com/office/drawing/2014/main" id="{DA52A00C-D175-4EB4-8E15-4456D92AA940}"/>
              </a:ext>
            </a:extLst>
          </p:cNvPr>
          <p:cNvSpPr/>
          <p:nvPr/>
        </p:nvSpPr>
        <p:spPr>
          <a:xfrm rot="3509655">
            <a:off x="2941782" y="1445749"/>
            <a:ext cx="565078" cy="552551"/>
          </a:xfrm>
          <a:prstGeom prst="blockArc">
            <a:avLst>
              <a:gd name="adj1" fmla="val 10800000"/>
              <a:gd name="adj2" fmla="val 20630815"/>
              <a:gd name="adj3" fmla="val 12532"/>
            </a:avLst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Block Arc 15">
            <a:extLst>
              <a:ext uri="{FF2B5EF4-FFF2-40B4-BE49-F238E27FC236}">
                <a16:creationId xmlns:a16="http://schemas.microsoft.com/office/drawing/2014/main" id="{91FF2B94-9C30-4086-BE83-1785F2BA8090}"/>
              </a:ext>
            </a:extLst>
          </p:cNvPr>
          <p:cNvSpPr/>
          <p:nvPr/>
        </p:nvSpPr>
        <p:spPr>
          <a:xfrm rot="3509655">
            <a:off x="2988313" y="1321842"/>
            <a:ext cx="817631" cy="620602"/>
          </a:xfrm>
          <a:prstGeom prst="blockArc">
            <a:avLst>
              <a:gd name="adj1" fmla="val 10800000"/>
              <a:gd name="adj2" fmla="val 20630815"/>
              <a:gd name="adj3" fmla="val 12532"/>
            </a:avLst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1A5E7CD-F087-4ADE-AB94-43FF77352552}"/>
              </a:ext>
            </a:extLst>
          </p:cNvPr>
          <p:cNvSpPr/>
          <p:nvPr/>
        </p:nvSpPr>
        <p:spPr>
          <a:xfrm rot="16626759">
            <a:off x="5033755" y="620371"/>
            <a:ext cx="934948" cy="4246094"/>
          </a:xfrm>
          <a:prstGeom prst="triangle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0EFDA2-AB48-41AA-8667-4B5528A95744}"/>
              </a:ext>
            </a:extLst>
          </p:cNvPr>
          <p:cNvSpPr txBox="1"/>
          <p:nvPr/>
        </p:nvSpPr>
        <p:spPr>
          <a:xfrm>
            <a:off x="1200893" y="1632143"/>
            <a:ext cx="1507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ln w="6350">
                  <a:noFill/>
                </a:ln>
              </a:rPr>
              <a:t>Sensors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AA72AF-ED8F-4853-A65E-557AA4B2E4A9}"/>
              </a:ext>
            </a:extLst>
          </p:cNvPr>
          <p:cNvSpPr txBox="1"/>
          <p:nvPr/>
        </p:nvSpPr>
        <p:spPr>
          <a:xfrm>
            <a:off x="1222076" y="4815094"/>
            <a:ext cx="180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ln w="6350">
                  <a:noFill/>
                </a:ln>
              </a:rPr>
              <a:t>Actuators</a:t>
            </a:r>
            <a:endParaRPr lang="en-US" sz="2400" cap="small" dirty="0">
              <a:ln w="6350"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53737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repeatCount="indefinite" fill="hold" grpId="0" nodeType="withEffect">
                                  <p:stCondLst>
                                    <p:cond delay="7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22" presetClass="entr" presetSubtype="8" repeatCount="indefinite" fill="remove" grpId="0" nodeType="withEffect">
                                  <p:stCondLst>
                                    <p:cond delay="7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91667E-6 -4.07407E-6 L 0.07838 0.0027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B1C92-01CF-4589-A272-C503772A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9622B-F0C8-44E4-949E-7FACA06BCFB4}"/>
              </a:ext>
            </a:extLst>
          </p:cNvPr>
          <p:cNvSpPr txBox="1"/>
          <p:nvPr/>
        </p:nvSpPr>
        <p:spPr>
          <a:xfrm>
            <a:off x="1139483" y="1457533"/>
            <a:ext cx="88907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Agent?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Agent?</a:t>
            </a:r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002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B1C92-01CF-4589-A272-C503772A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9622B-F0C8-44E4-949E-7FACA06BCFB4}"/>
              </a:ext>
            </a:extLst>
          </p:cNvPr>
          <p:cNvSpPr txBox="1"/>
          <p:nvPr/>
        </p:nvSpPr>
        <p:spPr>
          <a:xfrm>
            <a:off x="168812" y="612844"/>
            <a:ext cx="118590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Agent: the above example is the robotic agent.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Agent: it receives file contents, network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packets, and human input (keyboard/mouse) as sensory inputs and acts on the environment by writing files, sending network packets, and displaying information or generating sounds.  </a:t>
            </a:r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836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BE2250-CD0C-42D5-B371-2B54E0DF00DA}"/>
              </a:ext>
            </a:extLst>
          </p:cNvPr>
          <p:cNvSpPr/>
          <p:nvPr/>
        </p:nvSpPr>
        <p:spPr>
          <a:xfrm>
            <a:off x="296817" y="843054"/>
            <a:ext cx="2980548" cy="5546989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just"/>
            <a:r>
              <a:rPr lang="en-US" sz="3200" b="1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491E2-B542-490E-BA58-A627AF1AF93B}"/>
              </a:ext>
            </a:extLst>
          </p:cNvPr>
          <p:cNvSpPr/>
          <p:nvPr/>
        </p:nvSpPr>
        <p:spPr>
          <a:xfrm>
            <a:off x="4652796" y="843054"/>
            <a:ext cx="708584" cy="5546989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" rtlCol="0" anchor="t" anchorCtr="0"/>
          <a:lstStyle/>
          <a:p>
            <a:pPr algn="ctr"/>
            <a:r>
              <a:rPr lang="en-US" sz="3600" dirty="0"/>
              <a:t>Environment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D02C29-EC23-4136-877D-32F296CB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 Sequence</a:t>
            </a:r>
          </a:p>
        </p:txBody>
      </p:sp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C9EDEEF5-57D6-46EC-A43E-7C5BAF123A40}"/>
              </a:ext>
            </a:extLst>
          </p:cNvPr>
          <p:cNvSpPr/>
          <p:nvPr/>
        </p:nvSpPr>
        <p:spPr>
          <a:xfrm flipH="1">
            <a:off x="3335762" y="1227075"/>
            <a:ext cx="1267060" cy="1752886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Percepts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C8B97A17-BBFB-4732-9FE3-922774ACA990}"/>
              </a:ext>
            </a:extLst>
          </p:cNvPr>
          <p:cNvSpPr/>
          <p:nvPr/>
        </p:nvSpPr>
        <p:spPr>
          <a:xfrm>
            <a:off x="3335763" y="4095620"/>
            <a:ext cx="1267059" cy="1752886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Acts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0EFDA2-AB48-41AA-8667-4B5528A95744}"/>
              </a:ext>
            </a:extLst>
          </p:cNvPr>
          <p:cNvSpPr txBox="1"/>
          <p:nvPr/>
        </p:nvSpPr>
        <p:spPr>
          <a:xfrm>
            <a:off x="1400193" y="1396870"/>
            <a:ext cx="1268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ln w="6350">
                  <a:noFill/>
                </a:ln>
              </a:rPr>
              <a:t>Sensors</a:t>
            </a:r>
            <a:endParaRPr lang="en-US" sz="3600" cap="small" dirty="0">
              <a:ln w="6350">
                <a:noFill/>
              </a:ln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AA72AF-ED8F-4853-A65E-557AA4B2E4A9}"/>
              </a:ext>
            </a:extLst>
          </p:cNvPr>
          <p:cNvSpPr txBox="1"/>
          <p:nvPr/>
        </p:nvSpPr>
        <p:spPr>
          <a:xfrm>
            <a:off x="1263717" y="5580779"/>
            <a:ext cx="1541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ln w="6350">
                  <a:noFill/>
                </a:ln>
              </a:rPr>
              <a:t>Actuators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2F970A-B3F4-4346-9606-D69F68661313}"/>
              </a:ext>
            </a:extLst>
          </p:cNvPr>
          <p:cNvSpPr txBox="1"/>
          <p:nvPr/>
        </p:nvSpPr>
        <p:spPr>
          <a:xfrm>
            <a:off x="1120922" y="2750905"/>
            <a:ext cx="1826673" cy="2123658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3800" b="1" dirty="0">
                <a:ln w="28575">
                  <a:solidFill>
                    <a:sysClr val="windowText" lastClr="000000"/>
                  </a:solidFill>
                </a:ln>
                <a:solidFill>
                  <a:srgbClr val="A89C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3600" b="1" dirty="0">
              <a:ln w="28575">
                <a:solidFill>
                  <a:sysClr val="windowText" lastClr="000000"/>
                </a:solidFill>
              </a:ln>
              <a:solidFill>
                <a:srgbClr val="A89C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B86DC27-F2E4-4A70-92A2-07C3F3FA0862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2034259" y="1796980"/>
            <a:ext cx="0" cy="953925"/>
          </a:xfrm>
          <a:prstGeom prst="straightConnector1">
            <a:avLst/>
          </a:prstGeom>
          <a:ln w="7620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DFE82D-27C8-4E8E-B8CF-2FFB09E522DF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 flipH="1">
            <a:off x="2034258" y="4874563"/>
            <a:ext cx="1" cy="706216"/>
          </a:xfrm>
          <a:prstGeom prst="straightConnector1">
            <a:avLst/>
          </a:prstGeom>
          <a:ln w="7620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F6295DA-4AB0-4BC0-9803-1E2C30F660DE}"/>
              </a:ext>
            </a:extLst>
          </p:cNvPr>
          <p:cNvSpPr txBox="1"/>
          <p:nvPr/>
        </p:nvSpPr>
        <p:spPr>
          <a:xfrm>
            <a:off x="5589142" y="710005"/>
            <a:ext cx="641107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rgbClr val="66F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content an agent’s sensors are perceiving.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agent’s 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complete history of everything the agent has ever perceived.</a:t>
            </a:r>
          </a:p>
        </p:txBody>
      </p:sp>
    </p:spTree>
    <p:extLst>
      <p:ext uri="{BB962C8B-B14F-4D97-AF65-F5344CB8AC3E}">
        <p14:creationId xmlns:p14="http://schemas.microsoft.com/office/powerpoint/2010/main" val="112343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BE2250-CD0C-42D5-B371-2B54E0DF00DA}"/>
              </a:ext>
            </a:extLst>
          </p:cNvPr>
          <p:cNvSpPr/>
          <p:nvPr/>
        </p:nvSpPr>
        <p:spPr>
          <a:xfrm>
            <a:off x="296817" y="843054"/>
            <a:ext cx="2980548" cy="5546989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just"/>
            <a:r>
              <a:rPr lang="en-US" sz="3200" b="1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491E2-B542-490E-BA58-A627AF1AF93B}"/>
              </a:ext>
            </a:extLst>
          </p:cNvPr>
          <p:cNvSpPr/>
          <p:nvPr/>
        </p:nvSpPr>
        <p:spPr>
          <a:xfrm>
            <a:off x="4652796" y="843054"/>
            <a:ext cx="708584" cy="5546989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" rtlCol="0" anchor="t" anchorCtr="0"/>
          <a:lstStyle/>
          <a:p>
            <a:pPr algn="ctr"/>
            <a:r>
              <a:rPr lang="en-US" sz="3600" dirty="0"/>
              <a:t>Environment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D02C29-EC23-4136-877D-32F296CB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Function</a:t>
            </a:r>
          </a:p>
        </p:txBody>
      </p:sp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C9EDEEF5-57D6-46EC-A43E-7C5BAF123A40}"/>
              </a:ext>
            </a:extLst>
          </p:cNvPr>
          <p:cNvSpPr/>
          <p:nvPr/>
        </p:nvSpPr>
        <p:spPr>
          <a:xfrm flipH="1">
            <a:off x="3335762" y="1227075"/>
            <a:ext cx="1267060" cy="1752886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Percepts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C8B97A17-BBFB-4732-9FE3-922774ACA990}"/>
              </a:ext>
            </a:extLst>
          </p:cNvPr>
          <p:cNvSpPr/>
          <p:nvPr/>
        </p:nvSpPr>
        <p:spPr>
          <a:xfrm>
            <a:off x="3335763" y="4095620"/>
            <a:ext cx="1267059" cy="1752886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Acts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0EFDA2-AB48-41AA-8667-4B5528A95744}"/>
              </a:ext>
            </a:extLst>
          </p:cNvPr>
          <p:cNvSpPr txBox="1"/>
          <p:nvPr/>
        </p:nvSpPr>
        <p:spPr>
          <a:xfrm>
            <a:off x="1400193" y="1396870"/>
            <a:ext cx="1268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ln w="6350">
                  <a:noFill/>
                </a:ln>
              </a:rPr>
              <a:t>Sensors</a:t>
            </a:r>
            <a:endParaRPr lang="en-US" sz="3600" cap="small" dirty="0">
              <a:ln w="6350">
                <a:noFill/>
              </a:ln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AA72AF-ED8F-4853-A65E-557AA4B2E4A9}"/>
              </a:ext>
            </a:extLst>
          </p:cNvPr>
          <p:cNvSpPr txBox="1"/>
          <p:nvPr/>
        </p:nvSpPr>
        <p:spPr>
          <a:xfrm>
            <a:off x="1263717" y="5580779"/>
            <a:ext cx="1541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ln w="6350">
                  <a:noFill/>
                </a:ln>
              </a:rPr>
              <a:t>Actuators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2F970A-B3F4-4346-9606-D69F68661313}"/>
              </a:ext>
            </a:extLst>
          </p:cNvPr>
          <p:cNvSpPr txBox="1"/>
          <p:nvPr/>
        </p:nvSpPr>
        <p:spPr>
          <a:xfrm>
            <a:off x="1120922" y="2750905"/>
            <a:ext cx="1826673" cy="2123658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3800" b="1" dirty="0">
                <a:ln w="28575">
                  <a:solidFill>
                    <a:sysClr val="windowText" lastClr="000000"/>
                  </a:solidFill>
                </a:ln>
                <a:solidFill>
                  <a:srgbClr val="A89C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3600" b="1" dirty="0">
              <a:ln w="28575">
                <a:solidFill>
                  <a:sysClr val="windowText" lastClr="000000"/>
                </a:solidFill>
              </a:ln>
              <a:solidFill>
                <a:srgbClr val="A89C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B86DC27-F2E4-4A70-92A2-07C3F3FA0862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2034259" y="1796980"/>
            <a:ext cx="0" cy="953925"/>
          </a:xfrm>
          <a:prstGeom prst="straightConnector1">
            <a:avLst/>
          </a:prstGeom>
          <a:ln w="7620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DFE82D-27C8-4E8E-B8CF-2FFB09E522DF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 flipH="1">
            <a:off x="2034258" y="4874563"/>
            <a:ext cx="1" cy="706216"/>
          </a:xfrm>
          <a:prstGeom prst="straightConnector1">
            <a:avLst/>
          </a:prstGeom>
          <a:ln w="7620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F6295DA-4AB0-4BC0-9803-1E2C30F660DE}"/>
              </a:ext>
            </a:extLst>
          </p:cNvPr>
          <p:cNvSpPr txBox="1"/>
          <p:nvPr/>
        </p:nvSpPr>
        <p:spPr>
          <a:xfrm>
            <a:off x="5866544" y="710005"/>
            <a:ext cx="61336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b="1" dirty="0"/>
          </a:p>
          <a:p>
            <a:endParaRPr lang="en-US" sz="4000" b="1" dirty="0"/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agent’s behavior is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described by the agent function. </a:t>
            </a:r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Function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any given percept sequence to an action.</a:t>
            </a:r>
          </a:p>
        </p:txBody>
      </p:sp>
    </p:spTree>
    <p:extLst>
      <p:ext uri="{BB962C8B-B14F-4D97-AF65-F5344CB8AC3E}">
        <p14:creationId xmlns:p14="http://schemas.microsoft.com/office/powerpoint/2010/main" val="3253368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2D55-4A34-4477-A3BE-FFB5725AF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Function</a:t>
            </a:r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1F3AAF-B418-4905-9489-A755E0210102}"/>
              </a:ext>
            </a:extLst>
          </p:cNvPr>
          <p:cNvSpPr txBox="1"/>
          <p:nvPr/>
        </p:nvSpPr>
        <p:spPr>
          <a:xfrm>
            <a:off x="408280" y="450166"/>
            <a:ext cx="61336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b="1" dirty="0"/>
          </a:p>
          <a:p>
            <a:endParaRPr lang="en-US" sz="4000" b="1" dirty="0"/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agent’s behavior is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described by the agent function. </a:t>
            </a:r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Function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any given percept sequence to an action.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13B99-59A3-4D4D-B4A4-1F4279C2B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666" y="1500440"/>
            <a:ext cx="4682840" cy="3210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0099D3-B878-4DE2-9D0E-0BCFA6D50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59" y="5053617"/>
            <a:ext cx="2077327" cy="10676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D859CD-CB67-4E7A-89F5-4196F712D476}"/>
              </a:ext>
            </a:extLst>
          </p:cNvPr>
          <p:cNvSpPr txBox="1"/>
          <p:nvPr/>
        </p:nvSpPr>
        <p:spPr>
          <a:xfrm>
            <a:off x="4464625" y="5528049"/>
            <a:ext cx="2077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function</a:t>
            </a:r>
            <a:endParaRPr lang="en-P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18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44C3-97C0-45E9-9079-FFAC1A8FE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methods of an agent</a:t>
            </a:r>
            <a:endParaRPr lang="en-PK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A7CE014-21C0-48D9-A6C8-80B1B8639345}"/>
              </a:ext>
            </a:extLst>
          </p:cNvPr>
          <p:cNvSpPr txBox="1">
            <a:spLocks/>
          </p:cNvSpPr>
          <p:nvPr/>
        </p:nvSpPr>
        <p:spPr>
          <a:xfrm>
            <a:off x="714354" y="1639884"/>
            <a:ext cx="11291583" cy="3452621"/>
          </a:xfrm>
          <a:prstGeom prst="rect">
            <a:avLst/>
          </a:prstGeom>
        </p:spPr>
        <p:txBody>
          <a:bodyPr>
            <a:normAutofit/>
          </a:bodyPr>
          <a:lstStyle>
            <a:lvl1pPr marL="128588" indent="-128588" algn="l" defTabSz="514350" rtl="0" eaLnBrk="1" latinLnBrk="0" hangingPunct="1">
              <a:lnSpc>
                <a:spcPct val="125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1pPr>
            <a:lvl2pPr marL="385763" indent="-128588" algn="l" defTabSz="514350" rtl="0" eaLnBrk="1" latinLnBrk="0" hangingPunct="1">
              <a:lnSpc>
                <a:spcPct val="125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642938" indent="-128588" algn="l" defTabSz="514350" rtl="0" eaLnBrk="1" latinLnBrk="0" hangingPunct="1">
              <a:lnSpc>
                <a:spcPct val="125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900113" indent="-128588" algn="l" defTabSz="514350" rtl="0" eaLnBrk="1" latinLnBrk="0" hangingPunct="1">
              <a:lnSpc>
                <a:spcPct val="125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157288" indent="-128588" algn="l" defTabSz="514350" rtl="0" eaLnBrk="1" latinLnBrk="0" hangingPunct="1">
              <a:lnSpc>
                <a:spcPct val="125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 External Characterization </a:t>
            </a:r>
          </a:p>
          <a:p>
            <a:r>
              <a:rPr lang="en-US" sz="4400" dirty="0"/>
              <a:t> Internal Characterization</a:t>
            </a:r>
          </a:p>
          <a:p>
            <a:pPr marL="0" indent="0">
              <a:buNone/>
            </a:pP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2749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EF77BB-2B32-48B7-B03D-5B3B592D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Tabulating an agent function!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F2AA1-048B-4EC8-9A39-BB8970AF9D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External Characterization of an Agent:</a:t>
            </a:r>
          </a:p>
          <a:p>
            <a:r>
              <a:rPr lang="en-US" sz="4000" dirty="0"/>
              <a:t>Given an agent to experiment with, we can,</a:t>
            </a:r>
            <a:br>
              <a:rPr lang="en-US" sz="4000" dirty="0"/>
            </a:br>
            <a:r>
              <a:rPr lang="en-US" sz="4000" dirty="0"/>
              <a:t>in principle, construct this table by trying out all possible percept sequences and recording</a:t>
            </a:r>
            <a:br>
              <a:rPr lang="en-US" sz="4000" dirty="0"/>
            </a:br>
            <a:r>
              <a:rPr lang="en-US" sz="4000" dirty="0"/>
              <a:t>which actions the agent does in response. 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37902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characterization of agent function!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characterization describes how the agent is implemented internally.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Internally, the agent function for an artificial agent will be implemented by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program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function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abstract mathematical description;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program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concrete implementation, running within some physical system.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architecture (sensors, memory, actuators) + agent program (implementation of agent function)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686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Example-Vacuum cleaner world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7078" y="1226116"/>
            <a:ext cx="63413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and Status, e.g. [A, Dirty]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Left, Right, Suck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D7380C-A491-40F1-BF74-AF5DE2602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477" y="697532"/>
            <a:ext cx="2901043" cy="21829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888F8C-7BF7-45A9-B37D-3EC040BBF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65" y="2659522"/>
            <a:ext cx="4295208" cy="35747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0CF755-B590-414C-8583-B3E9A8757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477" y="2954341"/>
            <a:ext cx="5389997" cy="3747243"/>
          </a:xfrm>
          <a:prstGeom prst="rect">
            <a:avLst/>
          </a:prstGeom>
        </p:spPr>
      </p:pic>
      <p:sp>
        <p:nvSpPr>
          <p:cNvPr id="4" name="Callout: Left Arrow 3">
            <a:extLst>
              <a:ext uri="{FF2B5EF4-FFF2-40B4-BE49-F238E27FC236}">
                <a16:creationId xmlns:a16="http://schemas.microsoft.com/office/drawing/2014/main" id="{756F7DD8-682B-4366-884A-65681D865191}"/>
              </a:ext>
            </a:extLst>
          </p:cNvPr>
          <p:cNvSpPr/>
          <p:nvPr/>
        </p:nvSpPr>
        <p:spPr>
          <a:xfrm>
            <a:off x="4295207" y="2864106"/>
            <a:ext cx="2109718" cy="1482811"/>
          </a:xfrm>
          <a:prstGeom prst="lef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External Characterization</a:t>
            </a:r>
            <a:endParaRPr lang="en-PK" dirty="0"/>
          </a:p>
        </p:txBody>
      </p:sp>
      <p:sp>
        <p:nvSpPr>
          <p:cNvPr id="5" name="Callout: Right Arrow 4">
            <a:extLst>
              <a:ext uri="{FF2B5EF4-FFF2-40B4-BE49-F238E27FC236}">
                <a16:creationId xmlns:a16="http://schemas.microsoft.com/office/drawing/2014/main" id="{3C9E4C59-093B-4A3C-9D47-28DAA9D0AB6D}"/>
              </a:ext>
            </a:extLst>
          </p:cNvPr>
          <p:cNvSpPr/>
          <p:nvPr/>
        </p:nvSpPr>
        <p:spPr>
          <a:xfrm>
            <a:off x="4515729" y="5050302"/>
            <a:ext cx="1956748" cy="1232404"/>
          </a:xfrm>
          <a:prstGeom prst="righ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Internal Characterization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52080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characterization : agent program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99" y="1271588"/>
            <a:ext cx="77057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49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E1074-3C2C-43BD-A8EF-CB14F3B1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CD688-07A3-4E02-B37A-B9F97A16AF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car: percepts, actions, agent function, agent program?</a:t>
            </a:r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753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E1074-3C2C-43BD-A8EF-CB14F3B1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CD688-07A3-4E02-B37A-B9F97A16AF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car: percepts, actions, agent function, agent program?</a:t>
            </a:r>
          </a:p>
          <a:p>
            <a:pPr algn="l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Percepts: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Videos and pictures from Cameras, Road conditions, GPS location, nearby cars, traffic signals</a:t>
            </a:r>
          </a:p>
          <a:p>
            <a:pPr algn="l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Accelerate, brake, steer left/right, signal turn,</a:t>
            </a:r>
          </a:p>
          <a:p>
            <a:pPr algn="l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Function: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all sensor inputs over time to the best driving action</a:t>
            </a:r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02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EF77BB-2B32-48B7-B03D-5B3B592D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Agent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F2AA1-048B-4EC8-9A39-BB8970AF9D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What is rational at any given time depends on four things: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sz="4000" dirty="0"/>
              <a:t>The </a:t>
            </a:r>
            <a:r>
              <a:rPr lang="en-US" sz="4000" b="1" dirty="0">
                <a:solidFill>
                  <a:srgbClr val="FF0000"/>
                </a:solidFill>
              </a:rPr>
              <a:t>performance measure </a:t>
            </a:r>
            <a:r>
              <a:rPr lang="en-US" sz="4000" dirty="0"/>
              <a:t>that defines the criterion of success.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sz="4000" dirty="0"/>
              <a:t>The </a:t>
            </a:r>
            <a:r>
              <a:rPr lang="en-US" sz="4000" b="1" dirty="0">
                <a:solidFill>
                  <a:srgbClr val="FF0000"/>
                </a:solidFill>
              </a:rPr>
              <a:t>agent’s prior knowledge </a:t>
            </a:r>
            <a:r>
              <a:rPr lang="en-US" sz="4000" dirty="0"/>
              <a:t>of the environment.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sz="4000" dirty="0"/>
              <a:t>The available </a:t>
            </a:r>
            <a:r>
              <a:rPr lang="en-US" sz="4000" b="1" dirty="0">
                <a:solidFill>
                  <a:srgbClr val="FF0000"/>
                </a:solidFill>
              </a:rPr>
              <a:t>actions</a:t>
            </a:r>
            <a:r>
              <a:rPr lang="en-US" sz="4000" dirty="0"/>
              <a:t> that the agent can perform.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sz="4000" dirty="0"/>
              <a:t>The </a:t>
            </a:r>
            <a:r>
              <a:rPr lang="en-US" sz="4000" b="1" dirty="0">
                <a:solidFill>
                  <a:srgbClr val="FF0000"/>
                </a:solidFill>
              </a:rPr>
              <a:t>agent’s percept sequence </a:t>
            </a:r>
            <a:r>
              <a:rPr lang="en-US" sz="4000" dirty="0"/>
              <a:t>to date. 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66646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EF77BB-2B32-48B7-B03D-5B3B592D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Agent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F2AA1-048B-4EC8-9A39-BB8970AF9D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For each possible percept sequence, </a:t>
            </a:r>
            <a:r>
              <a:rPr lang="en-US" sz="4000" b="1" dirty="0"/>
              <a:t>a rational agent </a:t>
            </a:r>
            <a:r>
              <a:rPr lang="en-US" sz="4000" dirty="0"/>
              <a:t>should select </a:t>
            </a:r>
            <a:r>
              <a:rPr lang="en-US" sz="4000" b="1" dirty="0">
                <a:solidFill>
                  <a:srgbClr val="FF0000"/>
                </a:solidFill>
              </a:rPr>
              <a:t>an action </a:t>
            </a:r>
            <a:r>
              <a:rPr lang="en-US" sz="4000" dirty="0"/>
              <a:t>that is expected to maximize its (expected) </a:t>
            </a:r>
            <a:r>
              <a:rPr lang="en-US" sz="4000" b="1" dirty="0">
                <a:solidFill>
                  <a:srgbClr val="FF0000"/>
                </a:solidFill>
              </a:rPr>
              <a:t>performance measure</a:t>
            </a:r>
            <a:r>
              <a:rPr lang="en-US" sz="4000" dirty="0"/>
              <a:t>, given the evidence provided by the </a:t>
            </a:r>
            <a:r>
              <a:rPr lang="en-US" sz="4000" b="1" dirty="0">
                <a:solidFill>
                  <a:srgbClr val="FF0000"/>
                </a:solidFill>
              </a:rPr>
              <a:t>percept sequence </a:t>
            </a:r>
            <a:r>
              <a:rPr lang="en-US" sz="4000" dirty="0"/>
              <a:t>and whatever </a:t>
            </a:r>
            <a:r>
              <a:rPr lang="en-US" sz="4000" b="1" dirty="0">
                <a:solidFill>
                  <a:srgbClr val="FF0000"/>
                </a:solidFill>
              </a:rPr>
              <a:t>built-in knowledge </a:t>
            </a:r>
            <a:r>
              <a:rPr lang="en-US" sz="4000" dirty="0"/>
              <a:t>the agent has. (Example: Vacuum cleaner)</a:t>
            </a:r>
          </a:p>
        </p:txBody>
      </p:sp>
    </p:spTree>
    <p:extLst>
      <p:ext uri="{BB962C8B-B14F-4D97-AF65-F5344CB8AC3E}">
        <p14:creationId xmlns:p14="http://schemas.microsoft.com/office/powerpoint/2010/main" val="1191852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19D53-5A19-4D5C-9735-A36E75DB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environment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6E07A-8BD6-4AE0-B722-D23120257D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environment, actuators, sensors (PEAS)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PEAS helps in designing and understanding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agents by clearly defining 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agent should do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observe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interacts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world.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A5BF8-57D8-4FCB-BBE6-84CCFA1F2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697" y="2888953"/>
            <a:ext cx="4579938" cy="364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4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3081-DB0B-4EED-B0A7-EC54381C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example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481B9-FCB8-42A5-925C-18C76BA29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881063"/>
            <a:ext cx="11794922" cy="404489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Car:</a:t>
            </a: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948312C-6A56-4F71-8B52-18361CDF0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134424"/>
              </p:ext>
            </p:extLst>
          </p:nvPr>
        </p:nvGraphicFramePr>
        <p:xfrm>
          <a:off x="1371601" y="1551332"/>
          <a:ext cx="8021484" cy="310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999">
                  <a:extLst>
                    <a:ext uri="{9D8B030D-6E8A-4147-A177-3AD203B41FA5}">
                      <a16:colId xmlns:a16="http://schemas.microsoft.com/office/drawing/2014/main" val="2067101689"/>
                    </a:ext>
                  </a:extLst>
                </a:gridCol>
                <a:gridCol w="5735485">
                  <a:extLst>
                    <a:ext uri="{9D8B030D-6E8A-4147-A177-3AD203B41FA5}">
                      <a16:colId xmlns:a16="http://schemas.microsoft.com/office/drawing/2014/main" val="1513377121"/>
                    </a:ext>
                  </a:extLst>
                </a:gridCol>
              </a:tblGrid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PEAS Components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407531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98952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83680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Actuators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37061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075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955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3081-DB0B-4EED-B0A7-EC54381C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example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481B9-FCB8-42A5-925C-18C76BA29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881063"/>
            <a:ext cx="11794922" cy="404489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Car:</a:t>
            </a: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948312C-6A56-4F71-8B52-18361CDF0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96823"/>
              </p:ext>
            </p:extLst>
          </p:nvPr>
        </p:nvGraphicFramePr>
        <p:xfrm>
          <a:off x="1371601" y="1551332"/>
          <a:ext cx="8021484" cy="432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999">
                  <a:extLst>
                    <a:ext uri="{9D8B030D-6E8A-4147-A177-3AD203B41FA5}">
                      <a16:colId xmlns:a16="http://schemas.microsoft.com/office/drawing/2014/main" val="2067101689"/>
                    </a:ext>
                  </a:extLst>
                </a:gridCol>
                <a:gridCol w="5735485">
                  <a:extLst>
                    <a:ext uri="{9D8B030D-6E8A-4147-A177-3AD203B41FA5}">
                      <a16:colId xmlns:a16="http://schemas.microsoft.com/office/drawing/2014/main" val="1513377121"/>
                    </a:ext>
                  </a:extLst>
                </a:gridCol>
              </a:tblGrid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PEAS Components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407531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Safety, time to destination, passenger comfort, fuel efficiency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98952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Roads, traffic, pedestrians, weather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83680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Actuators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Steering, accelerator, brake, horn, indicators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37061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Cameras, radar, GPS, speedometer, LiDAR, engine sensors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075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447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3081-DB0B-4EED-B0A7-EC54381C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example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481B9-FCB8-42A5-925C-18C76BA29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881063"/>
            <a:ext cx="11794922" cy="404489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Vacuum Cleaner:</a:t>
            </a: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948312C-6A56-4F71-8B52-18361CDF0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629782"/>
              </p:ext>
            </p:extLst>
          </p:nvPr>
        </p:nvGraphicFramePr>
        <p:xfrm>
          <a:off x="1371601" y="1551332"/>
          <a:ext cx="8021484" cy="310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999">
                  <a:extLst>
                    <a:ext uri="{9D8B030D-6E8A-4147-A177-3AD203B41FA5}">
                      <a16:colId xmlns:a16="http://schemas.microsoft.com/office/drawing/2014/main" val="2067101689"/>
                    </a:ext>
                  </a:extLst>
                </a:gridCol>
                <a:gridCol w="5735485">
                  <a:extLst>
                    <a:ext uri="{9D8B030D-6E8A-4147-A177-3AD203B41FA5}">
                      <a16:colId xmlns:a16="http://schemas.microsoft.com/office/drawing/2014/main" val="1513377121"/>
                    </a:ext>
                  </a:extLst>
                </a:gridCol>
              </a:tblGrid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PEAS Components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407531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98952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83680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Actuators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37061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075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449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3081-DB0B-4EED-B0A7-EC54381C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example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481B9-FCB8-42A5-925C-18C76BA29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881063"/>
            <a:ext cx="11794922" cy="404489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Vacuum Cleaner:</a:t>
            </a: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948312C-6A56-4F71-8B52-18361CDF0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819839"/>
              </p:ext>
            </p:extLst>
          </p:nvPr>
        </p:nvGraphicFramePr>
        <p:xfrm>
          <a:off x="1371601" y="1551332"/>
          <a:ext cx="8021484" cy="391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999">
                  <a:extLst>
                    <a:ext uri="{9D8B030D-6E8A-4147-A177-3AD203B41FA5}">
                      <a16:colId xmlns:a16="http://schemas.microsoft.com/office/drawing/2014/main" val="2067101689"/>
                    </a:ext>
                  </a:extLst>
                </a:gridCol>
                <a:gridCol w="5735485">
                  <a:extLst>
                    <a:ext uri="{9D8B030D-6E8A-4147-A177-3AD203B41FA5}">
                      <a16:colId xmlns:a16="http://schemas.microsoft.com/office/drawing/2014/main" val="1513377121"/>
                    </a:ext>
                  </a:extLst>
                </a:gridCol>
              </a:tblGrid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PEAS Components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407531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Cleanliness of the floor, energy usage, time taken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98952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Rooms or grid with dirt and obstacles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83680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Actuators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Motor to move and vacuum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37061"/>
                  </a:ext>
                </a:extLst>
              </a:tr>
              <a:tr h="54087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Dirt sensor, bump sensor, location sensor</a:t>
                      </a:r>
                      <a:endParaRPr lang="en-PK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075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551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63285-D279-4EC0-9A0E-CFD29A40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PEAS-more examples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758D2-60FF-45E6-86D9-86D6C3453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19" y="623712"/>
            <a:ext cx="9955162" cy="623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31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00B9-0ACB-4826-B50A-4A08E65FD8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Nature of Environment</a:t>
            </a:r>
          </a:p>
        </p:txBody>
      </p:sp>
    </p:spTree>
    <p:extLst>
      <p:ext uri="{BB962C8B-B14F-4D97-AF65-F5344CB8AC3E}">
        <p14:creationId xmlns:p14="http://schemas.microsoft.com/office/powerpoint/2010/main" val="3943645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2D91-C4AD-4F2C-878C-DC55A12DA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observable  vs  partial observable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961BE-E167-4546-ACE7-1813E6211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Observable Environment: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agent’s sensors give it access to the complete state of the environment at each point in time.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agent can “see” the whole environment.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Observable Environment: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cannot observe the complete state of the environment because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noisy and inaccurate sensors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parts of the state are simply missing from the sensor data.</a:t>
            </a:r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694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BE2250-CD0C-42D5-B371-2B54E0DF00DA}"/>
              </a:ext>
            </a:extLst>
          </p:cNvPr>
          <p:cNvSpPr/>
          <p:nvPr/>
        </p:nvSpPr>
        <p:spPr>
          <a:xfrm>
            <a:off x="1178943" y="767750"/>
            <a:ext cx="2077005" cy="4968815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491E2-B542-490E-BA58-A627AF1AF93B}"/>
              </a:ext>
            </a:extLst>
          </p:cNvPr>
          <p:cNvSpPr/>
          <p:nvPr/>
        </p:nvSpPr>
        <p:spPr>
          <a:xfrm>
            <a:off x="5616564" y="767751"/>
            <a:ext cx="5666788" cy="4968815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3200" b="1" dirty="0"/>
              <a:t>Environment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D02C29-EC23-4136-877D-32F296CB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Observable vs Partially Observable</a:t>
            </a:r>
          </a:p>
        </p:txBody>
      </p:sp>
      <p:pic>
        <p:nvPicPr>
          <p:cNvPr id="8" name="Graphic 7" descr="Deciduous tree">
            <a:extLst>
              <a:ext uri="{FF2B5EF4-FFF2-40B4-BE49-F238E27FC236}">
                <a16:creationId xmlns:a16="http://schemas.microsoft.com/office/drawing/2014/main" id="{18346884-447A-4F18-980A-69017A834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3394" y="2358138"/>
            <a:ext cx="2217139" cy="2217139"/>
          </a:xfrm>
          <a:prstGeom prst="rect">
            <a:avLst/>
          </a:prstGeom>
        </p:spPr>
      </p:pic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C9EDEEF5-57D6-46EC-A43E-7C5BAF123A40}"/>
              </a:ext>
            </a:extLst>
          </p:cNvPr>
          <p:cNvSpPr/>
          <p:nvPr/>
        </p:nvSpPr>
        <p:spPr>
          <a:xfrm flipH="1">
            <a:off x="3277798" y="1012521"/>
            <a:ext cx="2267310" cy="969224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Percepts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C8B97A17-BBFB-4732-9FE3-922774ACA990}"/>
              </a:ext>
            </a:extLst>
          </p:cNvPr>
          <p:cNvSpPr/>
          <p:nvPr/>
        </p:nvSpPr>
        <p:spPr>
          <a:xfrm>
            <a:off x="3327403" y="4946582"/>
            <a:ext cx="2267310" cy="950240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3BADDD-C8FC-48B4-91AE-67D680B574A9}"/>
              </a:ext>
            </a:extLst>
          </p:cNvPr>
          <p:cNvGrpSpPr/>
          <p:nvPr/>
        </p:nvGrpSpPr>
        <p:grpSpPr>
          <a:xfrm>
            <a:off x="1222076" y="2822758"/>
            <a:ext cx="2309957" cy="2309957"/>
            <a:chOff x="1222076" y="1371600"/>
            <a:chExt cx="3761116" cy="3761116"/>
          </a:xfrm>
        </p:grpSpPr>
        <p:pic>
          <p:nvPicPr>
            <p:cNvPr id="5" name="Graphic 4" descr="Robot">
              <a:extLst>
                <a:ext uri="{FF2B5EF4-FFF2-40B4-BE49-F238E27FC236}">
                  <a16:creationId xmlns:a16="http://schemas.microsoft.com/office/drawing/2014/main" id="{C845A842-9CC4-49EF-A7D9-181E9F8AC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2076" y="1371600"/>
              <a:ext cx="3761116" cy="376111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084263A-BF6D-4C69-B534-C513C5F95B19}"/>
                </a:ext>
              </a:extLst>
            </p:cNvPr>
            <p:cNvSpPr txBox="1"/>
            <p:nvPr/>
          </p:nvSpPr>
          <p:spPr>
            <a:xfrm>
              <a:off x="2527444" y="3020602"/>
              <a:ext cx="1160979" cy="902030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600" b="1" dirty="0">
                  <a:ln w="28575">
                    <a:solidFill>
                      <a:sysClr val="windowText" lastClr="000000"/>
                    </a:solidFill>
                  </a:ln>
                  <a:solidFill>
                    <a:srgbClr val="A89C8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endParaRPr lang="en-US" sz="900" b="1" dirty="0">
                <a:ln w="28575">
                  <a:solidFill>
                    <a:sysClr val="windowText" lastClr="000000"/>
                  </a:solidFill>
                </a:ln>
                <a:solidFill>
                  <a:srgbClr val="A89C8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Block Arc 14">
            <a:extLst>
              <a:ext uri="{FF2B5EF4-FFF2-40B4-BE49-F238E27FC236}">
                <a16:creationId xmlns:a16="http://schemas.microsoft.com/office/drawing/2014/main" id="{DA52A00C-D175-4EB4-8E15-4456D92AA940}"/>
              </a:ext>
            </a:extLst>
          </p:cNvPr>
          <p:cNvSpPr/>
          <p:nvPr/>
        </p:nvSpPr>
        <p:spPr>
          <a:xfrm rot="3509655">
            <a:off x="2230022" y="2823600"/>
            <a:ext cx="384560" cy="376035"/>
          </a:xfrm>
          <a:prstGeom prst="blockArc">
            <a:avLst>
              <a:gd name="adj1" fmla="val 10800000"/>
              <a:gd name="adj2" fmla="val 20630815"/>
              <a:gd name="adj3" fmla="val 12532"/>
            </a:avLst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Block Arc 15">
            <a:extLst>
              <a:ext uri="{FF2B5EF4-FFF2-40B4-BE49-F238E27FC236}">
                <a16:creationId xmlns:a16="http://schemas.microsoft.com/office/drawing/2014/main" id="{91FF2B94-9C30-4086-BE83-1785F2BA8090}"/>
              </a:ext>
            </a:extLst>
          </p:cNvPr>
          <p:cNvSpPr/>
          <p:nvPr/>
        </p:nvSpPr>
        <p:spPr>
          <a:xfrm rot="3509655">
            <a:off x="2286545" y="2681849"/>
            <a:ext cx="556434" cy="422347"/>
          </a:xfrm>
          <a:prstGeom prst="blockArc">
            <a:avLst>
              <a:gd name="adj1" fmla="val 10800000"/>
              <a:gd name="adj2" fmla="val 20630815"/>
              <a:gd name="adj3" fmla="val 12532"/>
            </a:avLst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1A5E7CD-F087-4ADE-AB94-43FF77352552}"/>
              </a:ext>
            </a:extLst>
          </p:cNvPr>
          <p:cNvSpPr/>
          <p:nvPr/>
        </p:nvSpPr>
        <p:spPr>
          <a:xfrm rot="16200000">
            <a:off x="2767164" y="2257578"/>
            <a:ext cx="2993829" cy="3398631"/>
          </a:xfrm>
          <a:prstGeom prst="triangle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0EFDA2-AB48-41AA-8667-4B5528A95744}"/>
              </a:ext>
            </a:extLst>
          </p:cNvPr>
          <p:cNvSpPr txBox="1"/>
          <p:nvPr/>
        </p:nvSpPr>
        <p:spPr>
          <a:xfrm>
            <a:off x="1200893" y="1632143"/>
            <a:ext cx="1507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ln w="6350">
                  <a:noFill/>
                </a:ln>
              </a:rPr>
              <a:t>Sensors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AA72AF-ED8F-4853-A65E-557AA4B2E4A9}"/>
              </a:ext>
            </a:extLst>
          </p:cNvPr>
          <p:cNvSpPr txBox="1"/>
          <p:nvPr/>
        </p:nvSpPr>
        <p:spPr>
          <a:xfrm>
            <a:off x="1222076" y="4815094"/>
            <a:ext cx="180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ln w="6350">
                  <a:noFill/>
                </a:ln>
              </a:rPr>
              <a:t>Actuators</a:t>
            </a:r>
            <a:endParaRPr lang="en-US" sz="2400" cap="small" dirty="0">
              <a:ln w="6350">
                <a:noFill/>
              </a:ln>
            </a:endParaRPr>
          </a:p>
        </p:txBody>
      </p:sp>
      <p:pic>
        <p:nvPicPr>
          <p:cNvPr id="3" name="Graphic 2" descr="Lion">
            <a:extLst>
              <a:ext uri="{FF2B5EF4-FFF2-40B4-BE49-F238E27FC236}">
                <a16:creationId xmlns:a16="http://schemas.microsoft.com/office/drawing/2014/main" id="{DC6CB405-2CCB-446E-901B-06330781A3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6082989" y="3981238"/>
            <a:ext cx="2035374" cy="2035374"/>
          </a:xfrm>
          <a:prstGeom prst="rect">
            <a:avLst/>
          </a:prstGeom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1A5E7CD-F087-4ADE-AB94-43FF77352552}"/>
              </a:ext>
            </a:extLst>
          </p:cNvPr>
          <p:cNvSpPr/>
          <p:nvPr/>
        </p:nvSpPr>
        <p:spPr>
          <a:xfrm rot="16200000">
            <a:off x="3470885" y="1840664"/>
            <a:ext cx="1485330" cy="3058383"/>
          </a:xfrm>
          <a:prstGeom prst="triangl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1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repeatCount="indefinite" fill="hold" grpId="0" nodeType="withEffect">
                                  <p:stCondLst>
                                    <p:cond delay="7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22" presetClass="entr" presetSubtype="8" repeatCount="indefinite" fill="remove" grpId="0" nodeType="withEffect">
                                  <p:stCondLst>
                                    <p:cond delay="7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22" presetClass="entr" presetSubtype="8" repeatCount="indefinite" fill="remove" grpId="0" nodeType="withEffect">
                                  <p:stCondLst>
                                    <p:cond delay="7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0C84C-0174-47B2-818F-9650D7A8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652CCC-B972-4308-B0CA-CF76B966BA05}"/>
              </a:ext>
            </a:extLst>
          </p:cNvPr>
          <p:cNvSpPr txBox="1"/>
          <p:nvPr/>
        </p:nvSpPr>
        <p:spPr>
          <a:xfrm>
            <a:off x="759655" y="1856935"/>
            <a:ext cx="101709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Chess, Tic-Tac-Toe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Vacuum agent with a local dirt sensor ?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Self driving car?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agent has no sensors at al, then?</a:t>
            </a:r>
          </a:p>
          <a:p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759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1F12-B7E1-46C2-8E6B-DF092E93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 vs  nondeterministic</a:t>
            </a:r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FA6DC-A7A1-4637-A3E0-7CA4293EAB74}"/>
              </a:ext>
            </a:extLst>
          </p:cNvPr>
          <p:cNvSpPr txBox="1"/>
          <p:nvPr/>
        </p:nvSpPr>
        <p:spPr>
          <a:xfrm>
            <a:off x="886265" y="623707"/>
            <a:ext cx="104194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next state of the environment is completely determined by the current state and the action executed by the agent(s), then we say the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is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otherwise, it is nondeterministic or stochastic.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Examples: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Chess, Vacuum cleaner</a:t>
            </a:r>
          </a:p>
          <a:p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Nondeterministic Examples: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cars, Weather prediction, Stock Market</a:t>
            </a:r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037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1F12-B7E1-46C2-8E6B-DF092E93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 vs  continuous environments</a:t>
            </a:r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FA6DC-A7A1-4637-A3E0-7CA4293EAB74}"/>
              </a:ext>
            </a:extLst>
          </p:cNvPr>
          <p:cNvSpPr txBox="1"/>
          <p:nvPr/>
        </p:nvSpPr>
        <p:spPr>
          <a:xfrm>
            <a:off x="309716" y="623707"/>
            <a:ext cx="1200518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 provides a fixed number of distinct percepts, actions, and environment states. Or simply, countable states and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countable actions.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Chess, Sudoku Puzzle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Percepts, actions, state variables or time are continuous leading to an infinite state, percept or action space. For instance, self-driving car, voice recognition.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658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520B-790A-45FC-B571-EE0EE88C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 vs  dynamic</a:t>
            </a:r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9D875-0CA8-4D6F-BD7B-5F9EB5F0F091}"/>
              </a:ext>
            </a:extLst>
          </p:cNvPr>
          <p:cNvSpPr txBox="1"/>
          <p:nvPr/>
        </p:nvSpPr>
        <p:spPr>
          <a:xfrm>
            <a:off x="1002890" y="1120877"/>
            <a:ext cx="104271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 is not changing while agent is deliberating or taking decisions.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 is changing while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is deliberating.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Self-driving car, stock trading bots</a:t>
            </a:r>
            <a:endParaRPr lang="en-PK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531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BE2250-CD0C-42D5-B371-2B54E0DF00DA}"/>
              </a:ext>
            </a:extLst>
          </p:cNvPr>
          <p:cNvSpPr/>
          <p:nvPr/>
        </p:nvSpPr>
        <p:spPr>
          <a:xfrm>
            <a:off x="102733" y="767751"/>
            <a:ext cx="3153215" cy="3922762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491E2-B542-490E-BA58-A627AF1AF93B}"/>
              </a:ext>
            </a:extLst>
          </p:cNvPr>
          <p:cNvSpPr/>
          <p:nvPr/>
        </p:nvSpPr>
        <p:spPr>
          <a:xfrm>
            <a:off x="5616564" y="767753"/>
            <a:ext cx="5666788" cy="3922762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3200" b="1" dirty="0"/>
              <a:t>Environment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D02C29-EC23-4136-877D-32F296CB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Benign vs Adversarial</a:t>
            </a:r>
          </a:p>
        </p:txBody>
      </p:sp>
      <p:pic>
        <p:nvPicPr>
          <p:cNvPr id="8" name="Graphic 7" descr="Deciduous tree">
            <a:extLst>
              <a:ext uri="{FF2B5EF4-FFF2-40B4-BE49-F238E27FC236}">
                <a16:creationId xmlns:a16="http://schemas.microsoft.com/office/drawing/2014/main" id="{18346884-447A-4F18-980A-69017A834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1542" y="1760876"/>
            <a:ext cx="2217139" cy="2217139"/>
          </a:xfrm>
          <a:prstGeom prst="rect">
            <a:avLst/>
          </a:prstGeom>
        </p:spPr>
      </p:pic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C9EDEEF5-57D6-46EC-A43E-7C5BAF123A40}"/>
              </a:ext>
            </a:extLst>
          </p:cNvPr>
          <p:cNvSpPr/>
          <p:nvPr/>
        </p:nvSpPr>
        <p:spPr>
          <a:xfrm flipH="1">
            <a:off x="3277798" y="1012521"/>
            <a:ext cx="2267310" cy="969224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Percepts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C8B97A17-BBFB-4732-9FE3-922774ACA990}"/>
              </a:ext>
            </a:extLst>
          </p:cNvPr>
          <p:cNvSpPr/>
          <p:nvPr/>
        </p:nvSpPr>
        <p:spPr>
          <a:xfrm>
            <a:off x="3327404" y="3611508"/>
            <a:ext cx="2267310" cy="950240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3BADDD-C8FC-48B4-91AE-67D680B574A9}"/>
              </a:ext>
            </a:extLst>
          </p:cNvPr>
          <p:cNvGrpSpPr/>
          <p:nvPr/>
        </p:nvGrpSpPr>
        <p:grpSpPr>
          <a:xfrm>
            <a:off x="1173360" y="2037328"/>
            <a:ext cx="2309957" cy="2309957"/>
            <a:chOff x="1222076" y="1371600"/>
            <a:chExt cx="3761116" cy="3761116"/>
          </a:xfrm>
        </p:grpSpPr>
        <p:pic>
          <p:nvPicPr>
            <p:cNvPr id="5" name="Graphic 4" descr="Robot">
              <a:extLst>
                <a:ext uri="{FF2B5EF4-FFF2-40B4-BE49-F238E27FC236}">
                  <a16:creationId xmlns:a16="http://schemas.microsoft.com/office/drawing/2014/main" id="{C845A842-9CC4-49EF-A7D9-181E9F8AC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2076" y="1371600"/>
              <a:ext cx="3761116" cy="376111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084263A-BF6D-4C69-B534-C513C5F95B19}"/>
                </a:ext>
              </a:extLst>
            </p:cNvPr>
            <p:cNvSpPr txBox="1"/>
            <p:nvPr/>
          </p:nvSpPr>
          <p:spPr>
            <a:xfrm>
              <a:off x="2527444" y="3020602"/>
              <a:ext cx="1160979" cy="902030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600" b="1" dirty="0">
                  <a:ln w="28575">
                    <a:solidFill>
                      <a:sysClr val="windowText" lastClr="000000"/>
                    </a:solidFill>
                  </a:ln>
                  <a:solidFill>
                    <a:srgbClr val="A89C8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endParaRPr lang="en-US" sz="900" b="1" dirty="0">
                <a:ln w="28575">
                  <a:solidFill>
                    <a:sysClr val="windowText" lastClr="000000"/>
                  </a:solidFill>
                </a:ln>
                <a:solidFill>
                  <a:srgbClr val="A89C8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Block Arc 14">
            <a:extLst>
              <a:ext uri="{FF2B5EF4-FFF2-40B4-BE49-F238E27FC236}">
                <a16:creationId xmlns:a16="http://schemas.microsoft.com/office/drawing/2014/main" id="{DA52A00C-D175-4EB4-8E15-4456D92AA940}"/>
              </a:ext>
            </a:extLst>
          </p:cNvPr>
          <p:cNvSpPr/>
          <p:nvPr/>
        </p:nvSpPr>
        <p:spPr>
          <a:xfrm rot="3509655">
            <a:off x="2223612" y="2006790"/>
            <a:ext cx="384560" cy="376035"/>
          </a:xfrm>
          <a:prstGeom prst="blockArc">
            <a:avLst>
              <a:gd name="adj1" fmla="val 10800000"/>
              <a:gd name="adj2" fmla="val 20630815"/>
              <a:gd name="adj3" fmla="val 12532"/>
            </a:avLst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Block Arc 15">
            <a:extLst>
              <a:ext uri="{FF2B5EF4-FFF2-40B4-BE49-F238E27FC236}">
                <a16:creationId xmlns:a16="http://schemas.microsoft.com/office/drawing/2014/main" id="{91FF2B94-9C30-4086-BE83-1785F2BA8090}"/>
              </a:ext>
            </a:extLst>
          </p:cNvPr>
          <p:cNvSpPr/>
          <p:nvPr/>
        </p:nvSpPr>
        <p:spPr>
          <a:xfrm rot="3509655">
            <a:off x="2280135" y="1865039"/>
            <a:ext cx="556434" cy="422347"/>
          </a:xfrm>
          <a:prstGeom prst="blockArc">
            <a:avLst>
              <a:gd name="adj1" fmla="val 10800000"/>
              <a:gd name="adj2" fmla="val 20630815"/>
              <a:gd name="adj3" fmla="val 12532"/>
            </a:avLst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1A5E7CD-F087-4ADE-AB94-43FF77352552}"/>
              </a:ext>
            </a:extLst>
          </p:cNvPr>
          <p:cNvSpPr/>
          <p:nvPr/>
        </p:nvSpPr>
        <p:spPr>
          <a:xfrm rot="16200000">
            <a:off x="3453218" y="926765"/>
            <a:ext cx="1754325" cy="3531239"/>
          </a:xfrm>
          <a:prstGeom prst="triangle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0EFDA2-AB48-41AA-8667-4B5528A95744}"/>
              </a:ext>
            </a:extLst>
          </p:cNvPr>
          <p:cNvSpPr txBox="1"/>
          <p:nvPr/>
        </p:nvSpPr>
        <p:spPr>
          <a:xfrm>
            <a:off x="1200893" y="1394068"/>
            <a:ext cx="1507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ln w="6350">
                  <a:noFill/>
                </a:ln>
              </a:rPr>
              <a:t>Sensors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AA72AF-ED8F-4853-A65E-557AA4B2E4A9}"/>
              </a:ext>
            </a:extLst>
          </p:cNvPr>
          <p:cNvSpPr txBox="1"/>
          <p:nvPr/>
        </p:nvSpPr>
        <p:spPr>
          <a:xfrm>
            <a:off x="1254696" y="4169281"/>
            <a:ext cx="1800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ln w="6350">
                  <a:noFill/>
                </a:ln>
              </a:rPr>
              <a:t>Actuators</a:t>
            </a:r>
            <a:endParaRPr lang="en-US" sz="2400" cap="small" dirty="0">
              <a:ln w="6350">
                <a:noFill/>
              </a:ln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468F7-D4A3-4078-A190-44360543BB43}"/>
              </a:ext>
            </a:extLst>
          </p:cNvPr>
          <p:cNvSpPr txBox="1"/>
          <p:nvPr/>
        </p:nvSpPr>
        <p:spPr>
          <a:xfrm>
            <a:off x="281938" y="4968316"/>
            <a:ext cx="116281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cap="small" dirty="0">
                <a:ln>
                  <a:solidFill>
                    <a:sysClr val="windowText" lastClr="000000"/>
                  </a:solidFill>
                </a:ln>
                <a:solidFill>
                  <a:srgbClr val="00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Benign 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environment is not interested in making agent’s task worse.</a:t>
            </a:r>
            <a:endParaRPr lang="en-US" sz="3600" cap="small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1" name="Graphic 20" descr="Lion">
            <a:extLst>
              <a:ext uri="{FF2B5EF4-FFF2-40B4-BE49-F238E27FC236}">
                <a16:creationId xmlns:a16="http://schemas.microsoft.com/office/drawing/2014/main" id="{E0AE2E77-D1C2-481E-8841-52CA492BDD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825870" y="3063755"/>
            <a:ext cx="2267377" cy="22673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C598CE-4F27-431E-BDDA-6072D38B99C2}"/>
                  </a:ext>
                </a:extLst>
              </p14:cNvPr>
              <p14:cNvContentPartPr/>
              <p14:nvPr/>
            </p14:nvContentPartPr>
            <p14:xfrm>
              <a:off x="5759280" y="27558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C598CE-4F27-431E-BDDA-6072D38B99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49920" y="27464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34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repeatCount="indefinite" fill="hold" grpId="0" nodeType="withEffect">
                                  <p:stCondLst>
                                    <p:cond delay="7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22" presetClass="entr" presetSubtype="8" repeatCount="indefinite" fill="remove" grpId="0" nodeType="withEffect">
                                  <p:stCondLst>
                                    <p:cond delay="7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64FD-9EF6-4F39-AC9F-2C3984F8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Unmarked Quiz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E6F86E-26F4-40B3-A2BA-D616E840C1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650436"/>
              </p:ext>
            </p:extLst>
          </p:nvPr>
        </p:nvGraphicFramePr>
        <p:xfrm>
          <a:off x="371475" y="850900"/>
          <a:ext cx="11504615" cy="532375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00923">
                  <a:extLst>
                    <a:ext uri="{9D8B030D-6E8A-4147-A177-3AD203B41FA5}">
                      <a16:colId xmlns:a16="http://schemas.microsoft.com/office/drawing/2014/main" val="4042912754"/>
                    </a:ext>
                  </a:extLst>
                </a:gridCol>
                <a:gridCol w="2300923">
                  <a:extLst>
                    <a:ext uri="{9D8B030D-6E8A-4147-A177-3AD203B41FA5}">
                      <a16:colId xmlns:a16="http://schemas.microsoft.com/office/drawing/2014/main" val="572027370"/>
                    </a:ext>
                  </a:extLst>
                </a:gridCol>
                <a:gridCol w="2300923">
                  <a:extLst>
                    <a:ext uri="{9D8B030D-6E8A-4147-A177-3AD203B41FA5}">
                      <a16:colId xmlns:a16="http://schemas.microsoft.com/office/drawing/2014/main" val="1774902689"/>
                    </a:ext>
                  </a:extLst>
                </a:gridCol>
                <a:gridCol w="2300923">
                  <a:extLst>
                    <a:ext uri="{9D8B030D-6E8A-4147-A177-3AD203B41FA5}">
                      <a16:colId xmlns:a16="http://schemas.microsoft.com/office/drawing/2014/main" val="3640789148"/>
                    </a:ext>
                  </a:extLst>
                </a:gridCol>
                <a:gridCol w="2300923">
                  <a:extLst>
                    <a:ext uri="{9D8B030D-6E8A-4147-A177-3AD203B41FA5}">
                      <a16:colId xmlns:a16="http://schemas.microsoft.com/office/drawing/2014/main" val="655186112"/>
                    </a:ext>
                  </a:extLst>
                </a:gridCol>
              </a:tblGrid>
              <a:tr h="88729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Partially vs Fully</a:t>
                      </a:r>
                    </a:p>
                    <a:p>
                      <a:pPr algn="ctr"/>
                      <a:r>
                        <a:rPr lang="en-US" sz="2000" dirty="0"/>
                        <a:t>Observable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Deterministic vs Nondeterministic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Continuous vs Discrete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Benign vs Adversarial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6687695"/>
                  </a:ext>
                </a:extLst>
              </a:tr>
              <a:tr h="887293">
                <a:tc>
                  <a:txBody>
                    <a:bodyPr/>
                    <a:lstStyle/>
                    <a:p>
                      <a:r>
                        <a:rPr lang="en-US" sz="2000" dirty="0"/>
                        <a:t>Checkers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Deterministic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Discrete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Adversarial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768595"/>
                  </a:ext>
                </a:extLst>
              </a:tr>
              <a:tr h="887293">
                <a:tc>
                  <a:txBody>
                    <a:bodyPr/>
                    <a:lstStyle/>
                    <a:p>
                      <a:r>
                        <a:rPr lang="en-US" sz="2000" dirty="0"/>
                        <a:t>Image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Deterministic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Continuous</a:t>
                      </a:r>
                      <a:r>
                        <a:rPr lang="en-US" sz="2000" baseline="0" dirty="0"/>
                        <a:t> 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Benign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99136"/>
                  </a:ext>
                </a:extLst>
              </a:tr>
              <a:tr h="887293">
                <a:tc>
                  <a:txBody>
                    <a:bodyPr/>
                    <a:lstStyle/>
                    <a:p>
                      <a:r>
                        <a:rPr lang="en-US" sz="2000" dirty="0"/>
                        <a:t>Self Driving 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Partially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Nondeterministic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Depends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561507"/>
                  </a:ext>
                </a:extLst>
              </a:tr>
              <a:tr h="887293">
                <a:tc>
                  <a:txBody>
                    <a:bodyPr/>
                    <a:lstStyle/>
                    <a:p>
                      <a:r>
                        <a:rPr lang="en-US" sz="2000" dirty="0"/>
                        <a:t>Email Spam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Fully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Deterministic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Discrete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Depends…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762456"/>
                  </a:ext>
                </a:extLst>
              </a:tr>
              <a:tr h="887293">
                <a:tc>
                  <a:txBody>
                    <a:bodyPr/>
                    <a:lstStyle/>
                    <a:p>
                      <a:r>
                        <a:rPr lang="en-US" sz="2000" dirty="0" err="1"/>
                        <a:t>Youtube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Recomm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Partially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Deterministic / Nondeterministic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Discrete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????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887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706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EF77BB-2B32-48B7-B03D-5B3B592D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 (section 2.4)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F2AA1-048B-4EC8-9A39-BB8970AF9D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The job of AI is to </a:t>
            </a:r>
            <a:r>
              <a:rPr lang="en-US" sz="4000"/>
              <a:t>design an </a:t>
            </a:r>
            <a:r>
              <a:rPr lang="en-US" sz="4000" b="1" dirty="0">
                <a:solidFill>
                  <a:srgbClr val="FF0000"/>
                </a:solidFill>
              </a:rPr>
              <a:t>agent program </a:t>
            </a:r>
            <a:r>
              <a:rPr lang="en-US" sz="4000" dirty="0"/>
              <a:t>that implements  the agent function-the mapping from percepts to actions. </a:t>
            </a:r>
          </a:p>
          <a:p>
            <a:pPr algn="l"/>
            <a:r>
              <a:rPr lang="en-US" sz="4000" b="1" dirty="0">
                <a:solidFill>
                  <a:srgbClr val="FF0000"/>
                </a:solidFill>
              </a:rPr>
              <a:t>Architecture</a:t>
            </a:r>
            <a:r>
              <a:rPr lang="en-US" sz="4000" dirty="0"/>
              <a:t> – computing devices with physical sensors and actuators. For example, PC, robot</a:t>
            </a:r>
          </a:p>
          <a:p>
            <a:pPr algn="l"/>
            <a:r>
              <a:rPr lang="en-US" sz="4000" b="1" dirty="0">
                <a:solidFill>
                  <a:srgbClr val="FF0000"/>
                </a:solidFill>
              </a:rPr>
              <a:t>Agent = architecture + program.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503613" y="29638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707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kinds of agent programs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03339" y="881062"/>
            <a:ext cx="11291583" cy="5634037"/>
          </a:xfrm>
        </p:spPr>
        <p:txBody>
          <a:bodyPr>
            <a:normAutofit fontScale="85000" lnSpcReduction="20000"/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Simple reflex agents: </a:t>
            </a:r>
            <a:r>
              <a:rPr lang="en-US" dirty="0"/>
              <a:t>select actions on the basis of the </a:t>
            </a:r>
            <a:r>
              <a:rPr lang="en-US" i="1" dirty="0"/>
              <a:t>current </a:t>
            </a:r>
            <a:r>
              <a:rPr lang="en-US" dirty="0"/>
              <a:t>percept, ignoring the rest of the percept history. 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Model-based reflex agents: </a:t>
            </a:r>
            <a:r>
              <a:rPr lang="en-US" dirty="0"/>
              <a:t>require a model (e.g., memory) of the environment. 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Goal-based agents: </a:t>
            </a:r>
            <a:r>
              <a:rPr lang="en-US" dirty="0"/>
              <a:t>need some sort of goal information that describes situations that are desirable in addition of current state. 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Utility-based agents: </a:t>
            </a:r>
            <a:r>
              <a:rPr lang="en-US" dirty="0"/>
              <a:t>happy and unhappy statuses based on goal-based agents are not sufficient. Performance score based.  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Learning Agent: </a:t>
            </a:r>
            <a:r>
              <a:rPr lang="en-US" dirty="0"/>
              <a:t>Learns from experience and improves performance over time.</a:t>
            </a:r>
          </a:p>
        </p:txBody>
      </p:sp>
    </p:spTree>
    <p:extLst>
      <p:ext uri="{BB962C8B-B14F-4D97-AF65-F5344CB8AC3E}">
        <p14:creationId xmlns:p14="http://schemas.microsoft.com/office/powerpoint/2010/main" val="1895705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reflex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Respond to current state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No memory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Succeed in fully observable environment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Predefined rules to state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Limited in intelligence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/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1026" name="Picture 2" descr="Simple Reflex Ag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38" y="3038622"/>
            <a:ext cx="6100762" cy="381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768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based reflex agents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03339" y="881062"/>
            <a:ext cx="11291583" cy="5787023"/>
          </a:xfrm>
        </p:spPr>
        <p:txBody>
          <a:bodyPr>
            <a:normAutofit fontScale="85000" lnSpcReduction="20000"/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Consider current percept and an internal model (memory) of the environment.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Can work in partially observable environment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Follows the condition-action rule while employing its internal state to assess the condition.</a:t>
            </a:r>
          </a:p>
          <a:p>
            <a:pPr algn="l"/>
            <a:r>
              <a:rPr lang="en-US" sz="2900" b="1" dirty="0"/>
              <a:t>Example: Robot Vacuum</a:t>
            </a:r>
          </a:p>
          <a:p>
            <a:pPr algn="l"/>
            <a:r>
              <a:rPr lang="en-US" sz="2900" dirty="0"/>
              <a:t>The robot may remember: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dirty="0"/>
              <a:t>Which rooms it has visited.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dirty="0"/>
              <a:t>Which areas have been cleaned.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dirty="0"/>
              <a:t>Where obstacles are located.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dirty="0"/>
              <a:t>Its current position.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538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based reflex agents </a:t>
            </a:r>
          </a:p>
        </p:txBody>
      </p:sp>
      <p:pic>
        <p:nvPicPr>
          <p:cNvPr id="2050" name="Picture 2" descr="Model-based Reflex Ag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33" y="881063"/>
            <a:ext cx="10612336" cy="58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44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based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Similar to Model-Based agents and also uses goal information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Uses search algorithms for efficiently achieving goals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/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/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/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/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3074" name="Picture 2" descr="Goal-based Ag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657475"/>
            <a:ext cx="8586787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3737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Utility-based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Act based not only goals but also the best way to achieve the goal.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dirty="0"/>
              <a:t>The utility function maps each state to a real number to check how efficiently each action achieves the goals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4115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Utility-based agents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17858-61FF-4D1A-9DB8-20AB4A57A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25" y="881063"/>
            <a:ext cx="7118253" cy="568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0778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51F0B-BCAF-4285-815A-C519D8535A48}"/>
              </a:ext>
            </a:extLst>
          </p:cNvPr>
          <p:cNvSpPr txBox="1"/>
          <p:nvPr/>
        </p:nvSpPr>
        <p:spPr>
          <a:xfrm>
            <a:off x="520505" y="1364566"/>
            <a:ext cx="114933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Learning Agent is an agent that can improve its performance through experience.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relying entirely on predefined rules, it learns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Mistakes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724685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agent</a:t>
            </a:r>
          </a:p>
        </p:txBody>
      </p:sp>
      <p:pic>
        <p:nvPicPr>
          <p:cNvPr id="1026" name="Picture 2" descr="AI Types of Agents - CSVeda">
            <a:extLst>
              <a:ext uri="{FF2B5EF4-FFF2-40B4-BE49-F238E27FC236}">
                <a16:creationId xmlns:a16="http://schemas.microsoft.com/office/drawing/2014/main" id="{2F0BA9D1-844F-4013-A74D-3A9DD1E90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064" y="1038224"/>
            <a:ext cx="7415871" cy="554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485579"/>
      </p:ext>
    </p:extLst>
  </p:cSld>
  <p:clrMapOvr>
    <a:masterClrMapping/>
  </p:clrMapOvr>
</p:sld>
</file>

<file path=ppt/theme/theme1.xml><?xml version="1.0" encoding="utf-8"?>
<a:theme xmlns:a="http://schemas.openxmlformats.org/drawingml/2006/main" name="FunkyG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unkyGreen">
      <a:majorFont>
        <a:latin typeface="Showcard Gothic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Green" id="{BFFAA6AC-F031-41B0-BA61-587FAA24DFEB}" vid="{39D42B59-A1A5-4A8F-ADDC-4795C7BC9C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FunkyGreen</Template>
  <TotalTime>1285</TotalTime>
  <Words>1385</Words>
  <Application>Microsoft Office PowerPoint</Application>
  <PresentationFormat>Widescreen</PresentationFormat>
  <Paragraphs>287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Comic Sans MS</vt:lpstr>
      <vt:lpstr>Showcard Gothic</vt:lpstr>
      <vt:lpstr>Times New Roman</vt:lpstr>
      <vt:lpstr>Wingdings</vt:lpstr>
      <vt:lpstr>FunkyGreen</vt:lpstr>
      <vt:lpstr>What are Intelligent Agents</vt:lpstr>
      <vt:lpstr>Agent</vt:lpstr>
      <vt:lpstr>Example</vt:lpstr>
      <vt:lpstr>Example</vt:lpstr>
      <vt:lpstr>Example</vt:lpstr>
      <vt:lpstr>Percept Sequence</vt:lpstr>
      <vt:lpstr>Agent Function</vt:lpstr>
      <vt:lpstr>Agent Function</vt:lpstr>
      <vt:lpstr>Description methods of an agent</vt:lpstr>
      <vt:lpstr>Tabulating an agent function!</vt:lpstr>
      <vt:lpstr>Internal characterization of agent function!</vt:lpstr>
      <vt:lpstr>Example-Vacuum cleaner world</vt:lpstr>
      <vt:lpstr>Internal characterization : agent program</vt:lpstr>
      <vt:lpstr>Example</vt:lpstr>
      <vt:lpstr>Example</vt:lpstr>
      <vt:lpstr>Rational Agent</vt:lpstr>
      <vt:lpstr>Rational Agent</vt:lpstr>
      <vt:lpstr>Task environment</vt:lpstr>
      <vt:lpstr>Peas example</vt:lpstr>
      <vt:lpstr>Peas example</vt:lpstr>
      <vt:lpstr>Peas example</vt:lpstr>
      <vt:lpstr>Peas example</vt:lpstr>
      <vt:lpstr>PEAS-more examples</vt:lpstr>
      <vt:lpstr>Nature of Environment</vt:lpstr>
      <vt:lpstr>Fully observable  vs  partial observable</vt:lpstr>
      <vt:lpstr>Fully Observable vs Partially Observable</vt:lpstr>
      <vt:lpstr>Example</vt:lpstr>
      <vt:lpstr>Deterministic  vs  nondeterministic</vt:lpstr>
      <vt:lpstr>Discrete  vs  continuous environments</vt:lpstr>
      <vt:lpstr>Static  vs  dynamic</vt:lpstr>
      <vt:lpstr>Benign vs Adversarial</vt:lpstr>
      <vt:lpstr>Unmarked Quiz</vt:lpstr>
      <vt:lpstr>AI agent (section 2.4)</vt:lpstr>
      <vt:lpstr>Basic kinds of agent programs</vt:lpstr>
      <vt:lpstr>Simple reflex agent</vt:lpstr>
      <vt:lpstr>Model based reflex agents </vt:lpstr>
      <vt:lpstr>Model based reflex agents </vt:lpstr>
      <vt:lpstr>Goal based agents</vt:lpstr>
      <vt:lpstr>Utility-based agents</vt:lpstr>
      <vt:lpstr>Utility-based agents</vt:lpstr>
      <vt:lpstr>Learning agent</vt:lpstr>
      <vt:lpstr>Learning agent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Farooq Zaidi</dc:creator>
  <cp:lastModifiedBy>AKRAM HUSSAIN</cp:lastModifiedBy>
  <cp:revision>285</cp:revision>
  <dcterms:created xsi:type="dcterms:W3CDTF">2021-01-19T22:21:59Z</dcterms:created>
  <dcterms:modified xsi:type="dcterms:W3CDTF">2026-07-22T05:23:51Z</dcterms:modified>
</cp:coreProperties>
</file>